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16"/>
  </p:notesMasterIdLst>
  <p:handoutMasterIdLst>
    <p:handoutMasterId r:id="rId17"/>
  </p:handoutMasterIdLst>
  <p:sldIdLst>
    <p:sldId id="257" r:id="rId2"/>
    <p:sldId id="265" r:id="rId3"/>
    <p:sldId id="261" r:id="rId4"/>
    <p:sldId id="276" r:id="rId5"/>
    <p:sldId id="277" r:id="rId6"/>
    <p:sldId id="275" r:id="rId7"/>
    <p:sldId id="278" r:id="rId8"/>
    <p:sldId id="279" r:id="rId9"/>
    <p:sldId id="280" r:id="rId10"/>
    <p:sldId id="266" r:id="rId11"/>
    <p:sldId id="281" r:id="rId12"/>
    <p:sldId id="282" r:id="rId13"/>
    <p:sldId id="283"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203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p:scale>
          <a:sx n="66" d="100"/>
          <a:sy n="66" d="100"/>
        </p:scale>
        <p:origin x="1560" y="21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11/26/2025</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11/26/2025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11/26/2025</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11/26/2025</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314880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11/26/2025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11/26/2025</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11/26/2025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11/26/2025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11/26/2025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11/26/2025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11/26/2025</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83" r:id="rId5"/>
    <p:sldLayoutId id="2147483679" r:id="rId6"/>
    <p:sldLayoutId id="2147483680" r:id="rId7"/>
    <p:sldLayoutId id="2147483681" r:id="rId8"/>
    <p:sldLayoutId id="2147483682" r:id="rId9"/>
    <p:sldLayoutId id="2147483678"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13012" y="2421636"/>
            <a:ext cx="8426188"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400">
                <a:solidFill>
                  <a:srgbClr val="C02034"/>
                </a:solidFill>
                <a:latin typeface="Times New Roman" panose="02020603050405020304" pitchFamily="18" charset="0"/>
                <a:cs typeface="Times New Roman" panose="02020603050405020304" pitchFamily="18" charset="0"/>
              </a:rPr>
              <a:t>Real time traffic sign recognition</a:t>
            </a:r>
            <a:endParaRPr lang="en-US" sz="4400" b="0">
              <a:solidFill>
                <a:srgbClr val="C02034"/>
              </a:solidFill>
              <a:latin typeface="Times New Roman" panose="02020603050405020304" pitchFamily="18" charset="0"/>
              <a:cs typeface="Times New Roman" panose="02020603050405020304" pitchFamily="18" charset="0"/>
            </a:endParaRP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3567622"/>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400" b="0">
                <a:solidFill>
                  <a:schemeClr val="tx1"/>
                </a:solidFill>
                <a:latin typeface="Times New Roman" panose="02020603050405020304" pitchFamily="18" charset="0"/>
                <a:cs typeface="Times New Roman" panose="02020603050405020304" pitchFamily="18" charset="0"/>
              </a:rPr>
              <a:t>GVHD: PGS.TS </a:t>
            </a:r>
            <a:r>
              <a:rPr lang="vi-VN" sz="2400" b="0">
                <a:solidFill>
                  <a:schemeClr val="tx1"/>
                </a:solidFill>
                <a:latin typeface="Times New Roman" panose="02020603050405020304" pitchFamily="18" charset="0"/>
                <a:cs typeface="Times New Roman" panose="02020603050405020304" pitchFamily="18" charset="0"/>
              </a:rPr>
              <a:t>Lê Đức Hậu</a:t>
            </a:r>
            <a:endParaRPr lang="en-US" sz="2400" b="0" dirty="0">
              <a:solidFill>
                <a:schemeClr val="tx1"/>
              </a:solidFill>
              <a:latin typeface="Times New Roman" panose="02020603050405020304" pitchFamily="18" charset="0"/>
              <a:cs typeface="Times New Roman" panose="02020603050405020304" pitchFamily="18" charset="0"/>
            </a:endParaRPr>
          </a:p>
          <a:p>
            <a:r>
              <a:rPr lang="vi-VN" sz="2400" b="0">
                <a:solidFill>
                  <a:schemeClr val="tx1"/>
                </a:solidFill>
                <a:latin typeface="Times New Roman" panose="02020603050405020304" pitchFamily="18" charset="0"/>
                <a:cs typeface="Times New Roman" panose="02020603050405020304" pitchFamily="18" charset="0"/>
              </a:rPr>
              <a:t>Nhóm 12: Nguyễn Thùy Linh_20225031</a:t>
            </a:r>
          </a:p>
          <a:p>
            <a:r>
              <a:rPr lang="vi-VN" sz="2400" b="0">
                <a:solidFill>
                  <a:schemeClr val="tx1"/>
                </a:solidFill>
                <a:latin typeface="Times New Roman" panose="02020603050405020304" pitchFamily="18" charset="0"/>
                <a:cs typeface="Times New Roman" panose="02020603050405020304" pitchFamily="18" charset="0"/>
              </a:rPr>
              <a:t>	     Nguyễn Thị Thanh Huyền_20225017</a:t>
            </a:r>
          </a:p>
          <a:p>
            <a:r>
              <a:rPr lang="vi-VN" sz="2400" b="0">
                <a:solidFill>
                  <a:schemeClr val="tx1"/>
                </a:solidFill>
                <a:latin typeface="Times New Roman" panose="02020603050405020304" pitchFamily="18" charset="0"/>
                <a:cs typeface="Times New Roman" panose="02020603050405020304" pitchFamily="18" charset="0"/>
              </a:rPr>
              <a:t>	     Nguyễn Huyền San_20225075</a:t>
            </a:r>
          </a:p>
          <a:p>
            <a:r>
              <a:rPr lang="vi-VN" sz="2400" b="0">
                <a:solidFill>
                  <a:schemeClr val="tx1"/>
                </a:solidFill>
                <a:latin typeface="Times New Roman" panose="02020603050405020304" pitchFamily="18" charset="0"/>
                <a:cs typeface="Times New Roman" panose="02020603050405020304" pitchFamily="18" charset="0"/>
              </a:rPr>
              <a:t>	     Bùi Hoàng Anh_20224914</a:t>
            </a:r>
          </a:p>
          <a:p>
            <a:r>
              <a:rPr lang="vi-VN" sz="2400" b="0">
                <a:solidFill>
                  <a:schemeClr val="tx1"/>
                </a:solidFill>
                <a:latin typeface="Times New Roman" panose="02020603050405020304" pitchFamily="18" charset="0"/>
                <a:cs typeface="Times New Roman" panose="02020603050405020304" pitchFamily="18" charset="0"/>
              </a:rPr>
              <a:t>	     Đinh Quốc Tuấn_20225108</a:t>
            </a:r>
            <a:endParaRPr lang="en-US" sz="2400" b="0" dirty="0">
              <a:solidFill>
                <a:schemeClr val="tx1"/>
              </a:solidFill>
              <a:latin typeface="Times New Roman" panose="02020603050405020304" pitchFamily="18" charset="0"/>
              <a:cs typeface="Times New Roman" panose="02020603050405020304" pitchFamily="18" charset="0"/>
            </a:endParaRPr>
          </a:p>
          <a:p>
            <a:endParaRPr lang="en-US" sz="24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317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2</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lstStyle/>
          <a:p>
            <a:r>
              <a:rPr lang="vi-VN">
                <a:latin typeface="Times New Roman" panose="02020603050405020304" pitchFamily="18" charset="0"/>
                <a:cs typeface="Times New Roman" panose="02020603050405020304" pitchFamily="18" charset="0"/>
              </a:rPr>
              <a:t>1. </a:t>
            </a:r>
            <a:r>
              <a:rPr lang="en-US">
                <a:latin typeface="Times New Roman" panose="02020603050405020304" pitchFamily="18" charset="0"/>
                <a:cs typeface="Times New Roman" panose="02020603050405020304" pitchFamily="18" charset="0"/>
              </a:rPr>
              <a:t>Mở đầu</a:t>
            </a:r>
          </a:p>
        </p:txBody>
      </p:sp>
      <p:sp>
        <p:nvSpPr>
          <p:cNvPr id="5" name="Rectangle 1">
            <a:extLst>
              <a:ext uri="{FF2B5EF4-FFF2-40B4-BE49-F238E27FC236}">
                <a16:creationId xmlns:a16="http://schemas.microsoft.com/office/drawing/2014/main" id="{24A7F799-617F-BD0C-E4BD-EA82E55A9826}"/>
              </a:ext>
            </a:extLst>
          </p:cNvPr>
          <p:cNvSpPr>
            <a:spLocks noGrp="1" noChangeArrowheads="1"/>
          </p:cNvSpPr>
          <p:nvPr>
            <p:ph sz="quarter" idx="13"/>
          </p:nvPr>
        </p:nvSpPr>
        <p:spPr bwMode="auto">
          <a:xfrm>
            <a:off x="-572644" y="1373719"/>
            <a:ext cx="9366123" cy="435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914400" lvl="2" indent="0" eaLnBrk="0" fontAlgn="base" hangingPunct="0">
              <a:lnSpc>
                <a:spcPct val="100000"/>
              </a:lnSpc>
              <a:spcBef>
                <a:spcPct val="0"/>
              </a:spcBef>
              <a:spcAft>
                <a:spcPct val="0"/>
              </a:spcAft>
              <a:buNone/>
            </a:pPr>
            <a:r>
              <a:rPr kumimoji="0" lang="en-US" altLang="en-US"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Bối cảnh:</a:t>
            </a:r>
            <a:endParaRPr lang="vi-VN" altLang="en-US">
              <a:latin typeface="Times New Roman" panose="02020603050405020304" pitchFamily="18" charset="0"/>
              <a:ea typeface="Google Sans Text"/>
              <a:cs typeface="Times New Roman" panose="02020603050405020304" pitchFamily="18" charset="0"/>
            </a:endParaRPr>
          </a:p>
          <a:p>
            <a:pPr marL="914400" lvl="2" indent="0" eaLnBrk="0" fontAlgn="base" hangingPunct="0">
              <a:lnSpc>
                <a:spcPct val="100000"/>
              </a:lnSpc>
              <a:spcBef>
                <a:spcPct val="0"/>
              </a:spcBef>
              <a:spcAft>
                <a:spcPct val="0"/>
              </a:spcAft>
              <a:buNone/>
            </a:pPr>
            <a:r>
              <a:rPr kumimoji="0" lang="vi-VN" altLang="en-US"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Giao thông Việt Nam phức tạp, biển báo thường bị che khuất, mờ, hoặc đặt ở vị trí khó quan sát.</a:t>
            </a:r>
          </a:p>
          <a:p>
            <a:pPr marL="914400" lvl="2" indent="0" algn="just" eaLnBrk="0" fontAlgn="base" hangingPunct="0">
              <a:lnSpc>
                <a:spcPct val="100000"/>
              </a:lnSpc>
              <a:spcBef>
                <a:spcPct val="0"/>
              </a:spcBef>
              <a:spcAft>
                <a:spcPct val="0"/>
              </a:spcAft>
              <a:buNone/>
            </a:pPr>
            <a:r>
              <a:rPr kumimoji="0" lang="vi-VN" altLang="en-US"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Các hệ thống hiện tại thường chỉ dừng lại ở object detection (phát hiện vật thể) mà thiếu khả năng hiểu ngữ nghĩa sâu (semantic understanding) hoặc suy luận trong các tình huống nhập nhằng.</a:t>
            </a:r>
          </a:p>
          <a:p>
            <a:pPr marL="914400" lvl="2" indent="0" algn="just" eaLnBrk="0" fontAlgn="base" hangingPunct="0">
              <a:lnSpc>
                <a:spcPct val="100000"/>
              </a:lnSpc>
              <a:spcBef>
                <a:spcPct val="0"/>
              </a:spcBef>
              <a:spcAft>
                <a:spcPct val="0"/>
              </a:spcAft>
              <a:buNone/>
            </a:pPr>
            <a:r>
              <a:rPr kumimoji="0" lang="en-US" altLang="en-US"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Giải pháp đề xuất:</a:t>
            </a:r>
            <a:endParaRPr kumimoji="0" lang="en-US" altLang="en-US"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endParaRPr>
          </a:p>
          <a:p>
            <a:pPr marL="914400" lvl="2" indent="0" algn="just" eaLnBrk="0" fontAlgn="base" hangingPunct="0">
              <a:lnSpc>
                <a:spcPct val="100000"/>
              </a:lnSpc>
              <a:spcBef>
                <a:spcPct val="0"/>
              </a:spcBef>
              <a:spcAft>
                <a:spcPct val="0"/>
              </a:spcAft>
              <a:buNone/>
            </a:pPr>
            <a:r>
              <a:rPr kumimoji="0" lang="en-US" altLang="en-US"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Kết hợp YOLOv12 (State-of-the-art về tốc độ) và VLM (Vision-Language Model -  hiểu ngữ cảnh).</a:t>
            </a:r>
          </a:p>
          <a:p>
            <a:pPr marL="914400" lvl="2" indent="0" algn="just" eaLnBrk="0" fontAlgn="base" hangingPunct="0">
              <a:lnSpc>
                <a:spcPct val="100000"/>
              </a:lnSpc>
              <a:spcBef>
                <a:spcPct val="0"/>
              </a:spcBef>
              <a:spcAft>
                <a:spcPct val="0"/>
              </a:spcAft>
              <a:buNone/>
            </a:pPr>
            <a:r>
              <a:rPr kumimoji="0" lang="en-US" altLang="en-US"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Đóng góp chính:</a:t>
            </a:r>
            <a:endParaRPr kumimoji="0" lang="en-US" altLang="en-US"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endParaRPr>
          </a:p>
          <a:p>
            <a:pPr marL="914400" lvl="2" indent="0" algn="just" eaLnBrk="0" fontAlgn="base" hangingPunct="0">
              <a:lnSpc>
                <a:spcPct val="100000"/>
              </a:lnSpc>
              <a:spcBef>
                <a:spcPct val="0"/>
              </a:spcBef>
              <a:spcAft>
                <a:spcPct val="0"/>
              </a:spcAft>
              <a:buFontTx/>
              <a:buAutoNum type="arabicPeriod"/>
            </a:pPr>
            <a:r>
              <a:rPr kumimoji="0" lang="en-US" altLang="en-US"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Xây dựng pipeline xử lý thời gian thực.</a:t>
            </a:r>
          </a:p>
          <a:p>
            <a:pPr marL="914400" lvl="2" indent="0" algn="just" eaLnBrk="0" fontAlgn="base" hangingPunct="0">
              <a:lnSpc>
                <a:spcPct val="100000"/>
              </a:lnSpc>
              <a:spcBef>
                <a:spcPct val="0"/>
              </a:spcBef>
              <a:spcAft>
                <a:spcPct val="0"/>
              </a:spcAft>
              <a:buFontTx/>
              <a:buAutoNum type="arabicPeriod" startAt="2"/>
            </a:pPr>
            <a:r>
              <a:rPr kumimoji="0" lang="en-US" altLang="en-US"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Tối ưu hóa bộ dữ liệu biển báo Việt Nam.</a:t>
            </a:r>
          </a:p>
          <a:p>
            <a:pPr marL="914400" lvl="2" indent="0" algn="just" eaLnBrk="0" fontAlgn="base" hangingPunct="0">
              <a:lnSpc>
                <a:spcPct val="100000"/>
              </a:lnSpc>
              <a:spcBef>
                <a:spcPct val="0"/>
              </a:spcBef>
              <a:spcAft>
                <a:spcPct val="0"/>
              </a:spcAft>
              <a:buFontTx/>
              <a:buAutoNum type="arabicPeriod" startAt="3"/>
            </a:pPr>
            <a:r>
              <a:rPr kumimoji="0" lang="en-US" altLang="en-US"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Tích hợp cơ chế "Detection-Classification" bất đồng bộ để tối ưu độ trễ.</a:t>
            </a:r>
          </a:p>
          <a:p>
            <a:pPr marL="914400" lvl="2" indent="0" algn="just" eaLnBrk="0" fontAlgn="base" hangingPunct="0">
              <a:lnSpc>
                <a:spcPct val="100000"/>
              </a:lnSpc>
              <a:spcBef>
                <a:spcPct val="0"/>
              </a:spcBef>
              <a:spcAft>
                <a:spcPct val="0"/>
              </a:spcAft>
              <a:buNone/>
            </a:pPr>
            <a:endParaRPr kumimoji="0" lang="en-US" altLang="en-US"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364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776946D-AB92-4D05-97ED-4EDF0AB0FF55}"/>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pPr/>
              <a:t>3</a:t>
            </a:fld>
            <a:endParaRPr lang="en-US"/>
          </a:p>
        </p:txBody>
      </p:sp>
      <p:sp>
        <p:nvSpPr>
          <p:cNvPr id="2" name="Title 1">
            <a:extLst>
              <a:ext uri="{FF2B5EF4-FFF2-40B4-BE49-F238E27FC236}">
                <a16:creationId xmlns:a16="http://schemas.microsoft.com/office/drawing/2014/main" id="{4FB6CB3A-046A-4C56-A02D-DBF672421CAF}"/>
              </a:ext>
            </a:extLst>
          </p:cNvPr>
          <p:cNvSpPr>
            <a:spLocks noGrp="1"/>
          </p:cNvSpPr>
          <p:nvPr>
            <p:ph type="title"/>
          </p:nvPr>
        </p:nvSpPr>
        <p:spPr>
          <a:xfrm>
            <a:off x="254052" y="112543"/>
            <a:ext cx="8635896" cy="436098"/>
          </a:xfrm>
          <a:prstGeom prst="rect">
            <a:avLst/>
          </a:prstGeom>
        </p:spPr>
        <p:txBody>
          <a:bodyPr/>
          <a:lstStyle/>
          <a:p>
            <a:r>
              <a:rPr lang="en-US"/>
              <a:t>2. Xử lý Dữ liệu</a:t>
            </a:r>
          </a:p>
        </p:txBody>
      </p:sp>
      <p:sp>
        <p:nvSpPr>
          <p:cNvPr id="9" name="Rectangle 2">
            <a:extLst>
              <a:ext uri="{FF2B5EF4-FFF2-40B4-BE49-F238E27FC236}">
                <a16:creationId xmlns:a16="http://schemas.microsoft.com/office/drawing/2014/main" id="{BBE0EC6E-BFBF-AE7D-A6B6-4E3666720183}"/>
              </a:ext>
            </a:extLst>
          </p:cNvPr>
          <p:cNvSpPr>
            <a:spLocks noChangeArrowheads="1"/>
          </p:cNvSpPr>
          <p:nvPr/>
        </p:nvSpPr>
        <p:spPr bwMode="auto">
          <a:xfrm>
            <a:off x="254052" y="1279124"/>
            <a:ext cx="8408968" cy="1277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200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Bộ dataset vietnam-traffic-sign (gốc 545 ảnh, 19 classes).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Phân tích dữ liệu (EDA):Biểu đồ phân bố các lớp </a:t>
            </a:r>
            <a:r>
              <a:rPr lang="vi-VN" altLang="en-US" sz="2000">
                <a:latin typeface="Times New Roman" panose="02020603050405020304" pitchFamily="18" charset="0"/>
                <a:ea typeface="Google Sans Text"/>
                <a:cs typeface="Times New Roman" panose="02020603050405020304" pitchFamily="18" charset="0"/>
              </a:rPr>
              <a:t>c</a:t>
            </a:r>
            <a:r>
              <a:rPr kumimoji="0" lang="en-US" altLang="en-US" sz="200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hỉ ra sự mất cân bằng </a:t>
            </a:r>
            <a:endParaRPr kumimoji="0" lang="vi-VN" altLang="en-US" sz="200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(ví dụ: biển "Cấm rẽ trái" nhiều hơn "Đường không bằng phẳng").</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06400178-6F70-E947-C7E6-8661E9C2BB9C}"/>
              </a:ext>
            </a:extLst>
          </p:cNvPr>
          <p:cNvPicPr>
            <a:picLocks noChangeAspect="1"/>
          </p:cNvPicPr>
          <p:nvPr/>
        </p:nvPicPr>
        <p:blipFill>
          <a:blip r:embed="rId2"/>
          <a:stretch>
            <a:fillRect/>
          </a:stretch>
        </p:blipFill>
        <p:spPr>
          <a:xfrm>
            <a:off x="1489629" y="2393250"/>
            <a:ext cx="5775767" cy="3816708"/>
          </a:xfrm>
          <a:prstGeom prst="rect">
            <a:avLst/>
          </a:prstGeom>
        </p:spPr>
      </p:pic>
    </p:spTree>
    <p:extLst>
      <p:ext uri="{BB962C8B-B14F-4D97-AF65-F5344CB8AC3E}">
        <p14:creationId xmlns:p14="http://schemas.microsoft.com/office/powerpoint/2010/main" val="64084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D83BC-AF8A-8329-6809-49390B2387E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4233E4F-1F17-BC89-5F2F-E15EE30E8365}"/>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pPr/>
              <a:t>4</a:t>
            </a:fld>
            <a:endParaRPr lang="en-US"/>
          </a:p>
        </p:txBody>
      </p:sp>
      <p:sp>
        <p:nvSpPr>
          <p:cNvPr id="2" name="Title 1">
            <a:extLst>
              <a:ext uri="{FF2B5EF4-FFF2-40B4-BE49-F238E27FC236}">
                <a16:creationId xmlns:a16="http://schemas.microsoft.com/office/drawing/2014/main" id="{168952D5-AEC3-05D5-DFE3-EA55316F7F1D}"/>
              </a:ext>
            </a:extLst>
          </p:cNvPr>
          <p:cNvSpPr>
            <a:spLocks noGrp="1"/>
          </p:cNvSpPr>
          <p:nvPr>
            <p:ph type="title"/>
          </p:nvPr>
        </p:nvSpPr>
        <p:spPr>
          <a:xfrm>
            <a:off x="254052" y="112543"/>
            <a:ext cx="8635896" cy="436098"/>
          </a:xfrm>
          <a:prstGeom prst="rect">
            <a:avLst/>
          </a:prstGeom>
        </p:spPr>
        <p:txBody>
          <a:bodyPr/>
          <a:lstStyle/>
          <a:p>
            <a:r>
              <a:rPr lang="en-US"/>
              <a:t>2. Xử lý Dữ liệu</a:t>
            </a:r>
          </a:p>
        </p:txBody>
      </p:sp>
      <p:sp>
        <p:nvSpPr>
          <p:cNvPr id="9" name="Rectangle 2">
            <a:extLst>
              <a:ext uri="{FF2B5EF4-FFF2-40B4-BE49-F238E27FC236}">
                <a16:creationId xmlns:a16="http://schemas.microsoft.com/office/drawing/2014/main" id="{8D19AF11-7EC9-EB0C-F9AF-4D243FE02153}"/>
              </a:ext>
            </a:extLst>
          </p:cNvPr>
          <p:cNvSpPr>
            <a:spLocks noChangeArrowheads="1"/>
          </p:cNvSpPr>
          <p:nvPr/>
        </p:nvSpPr>
        <p:spPr bwMode="auto">
          <a:xfrm>
            <a:off x="254053" y="1244167"/>
            <a:ext cx="8635895" cy="180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r>
              <a:rPr kumimoji="0" lang="en-US" altLang="en-US" sz="200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Kỹ thuật Au</a:t>
            </a:r>
            <a:r>
              <a:rPr kumimoji="0" lang="vi-VN" altLang="en-US" sz="200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gmentation: </a:t>
            </a:r>
            <a:r>
              <a:rPr lang="vi-VN"/>
              <a:t>lật ngang, dọc, xoay, dịch, phóng to, thu nhỏ, cắt ảnh, thay đổi độ sáng, độ tương phản, thay đổi kênh màu, dùng Gaussian làm nhiễu mờ với xác suất khác nhau.</a:t>
            </a:r>
          </a:p>
          <a:p>
            <a:r>
              <a:rPr lang="vi-VN"/>
              <a:t>Dữ liệu thu được sau xử lý thu được 2486 bản ghi</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00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5BCCA66-9191-9311-1E2D-3E632F78FBEA}"/>
              </a:ext>
            </a:extLst>
          </p:cNvPr>
          <p:cNvPicPr>
            <a:picLocks noChangeAspect="1"/>
          </p:cNvPicPr>
          <p:nvPr/>
        </p:nvPicPr>
        <p:blipFill>
          <a:blip r:embed="rId2"/>
          <a:stretch>
            <a:fillRect/>
          </a:stretch>
        </p:blipFill>
        <p:spPr>
          <a:xfrm>
            <a:off x="1756309" y="2519852"/>
            <a:ext cx="5631381" cy="3746740"/>
          </a:xfrm>
          <a:prstGeom prst="rect">
            <a:avLst/>
          </a:prstGeom>
        </p:spPr>
      </p:pic>
    </p:spTree>
    <p:extLst>
      <p:ext uri="{BB962C8B-B14F-4D97-AF65-F5344CB8AC3E}">
        <p14:creationId xmlns:p14="http://schemas.microsoft.com/office/powerpoint/2010/main" val="794751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CBFDC-E65F-9214-3C12-5BC19F97FBF6}"/>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FE3162B-7115-4173-C2E2-38A660C04765}"/>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pPr/>
              <a:t>5</a:t>
            </a:fld>
            <a:endParaRPr lang="en-US"/>
          </a:p>
        </p:txBody>
      </p:sp>
      <p:sp>
        <p:nvSpPr>
          <p:cNvPr id="2" name="Title 1">
            <a:extLst>
              <a:ext uri="{FF2B5EF4-FFF2-40B4-BE49-F238E27FC236}">
                <a16:creationId xmlns:a16="http://schemas.microsoft.com/office/drawing/2014/main" id="{57F265FC-EF4A-40CC-DF85-A7D70B1F43FA}"/>
              </a:ext>
            </a:extLst>
          </p:cNvPr>
          <p:cNvSpPr>
            <a:spLocks noGrp="1"/>
          </p:cNvSpPr>
          <p:nvPr>
            <p:ph type="title"/>
          </p:nvPr>
        </p:nvSpPr>
        <p:spPr>
          <a:xfrm>
            <a:off x="254052" y="112543"/>
            <a:ext cx="8635896" cy="436098"/>
          </a:xfrm>
          <a:prstGeom prst="rect">
            <a:avLst/>
          </a:prstGeom>
        </p:spPr>
        <p:txBody>
          <a:bodyPr/>
          <a:lstStyle/>
          <a:p>
            <a:r>
              <a:rPr lang="en-US"/>
              <a:t>2. Xử lý Dữ liệu</a:t>
            </a:r>
          </a:p>
        </p:txBody>
      </p:sp>
      <p:sp>
        <p:nvSpPr>
          <p:cNvPr id="9" name="Rectangle 2">
            <a:extLst>
              <a:ext uri="{FF2B5EF4-FFF2-40B4-BE49-F238E27FC236}">
                <a16:creationId xmlns:a16="http://schemas.microsoft.com/office/drawing/2014/main" id="{697194AC-6E72-937A-8D4A-04CDD11907AB}"/>
              </a:ext>
            </a:extLst>
          </p:cNvPr>
          <p:cNvSpPr>
            <a:spLocks noChangeArrowheads="1"/>
          </p:cNvSpPr>
          <p:nvPr/>
        </p:nvSpPr>
        <p:spPr bwMode="auto">
          <a:xfrm>
            <a:off x="254052" y="1435656"/>
            <a:ext cx="8635895" cy="2816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endParaRPr kumimoji="0" lang="en-US" altLang="en-US" sz="200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endParaRPr>
          </a:p>
          <a:p>
            <a:pPr algn="just"/>
            <a:r>
              <a:rPr lang="vi-VN" sz="2000">
                <a:latin typeface="Times New Roman" panose="02020603050405020304" pitchFamily="18" charset="0"/>
                <a:cs typeface="Times New Roman" panose="02020603050405020304" pitchFamily="18" charset="0"/>
              </a:rPr>
              <a:t>Hình ảnh sau xử lý: 320x320, có định dạng ".jpg", ".jpeg", ".png".</a:t>
            </a:r>
          </a:p>
          <a:p>
            <a:pPr algn="just"/>
            <a:r>
              <a:rPr lang="vi-VN" sz="2000">
                <a:latin typeface="Times New Roman" panose="02020603050405020304" pitchFamily="18" charset="0"/>
                <a:cs typeface="Times New Roman" panose="02020603050405020304" pitchFamily="18" charset="0"/>
              </a:rPr>
              <a:t>   - &lt;class_id&gt;: Đây là một số nguyên đại diện cho mã lớp của đối tượng.</a:t>
            </a:r>
          </a:p>
          <a:p>
            <a:pPr algn="just"/>
            <a:r>
              <a:rPr lang="vi-VN" sz="2000">
                <a:latin typeface="Times New Roman" panose="02020603050405020304" pitchFamily="18" charset="0"/>
                <a:cs typeface="Times New Roman" panose="02020603050405020304" pitchFamily="18" charset="0"/>
              </a:rPr>
              <a:t>   - &lt;x_center&gt;: Tọa độ tâm theo trục X của bounding box (khung chứa đối tượng).</a:t>
            </a:r>
          </a:p>
          <a:p>
            <a:pPr algn="just"/>
            <a:r>
              <a:rPr lang="vi-VN" sz="2000">
                <a:latin typeface="Times New Roman" panose="02020603050405020304" pitchFamily="18" charset="0"/>
                <a:cs typeface="Times New Roman" panose="02020603050405020304" pitchFamily="18" charset="0"/>
              </a:rPr>
              <a:t>   - &lt;y_center&gt;: Tọa độ tâm theo trục Y của bounding box.</a:t>
            </a:r>
          </a:p>
          <a:p>
            <a:pPr algn="just"/>
            <a:r>
              <a:rPr lang="vi-VN" sz="2000">
                <a:latin typeface="Times New Roman" panose="02020603050405020304" pitchFamily="18" charset="0"/>
                <a:cs typeface="Times New Roman" panose="02020603050405020304" pitchFamily="18" charset="0"/>
              </a:rPr>
              <a:t>   - &lt;width&gt;: Chiều rộng của bounding box.</a:t>
            </a:r>
          </a:p>
          <a:p>
            <a:pPr algn="just"/>
            <a:r>
              <a:rPr lang="vi-VN" sz="2000">
                <a:latin typeface="Times New Roman" panose="02020603050405020304" pitchFamily="18" charset="0"/>
                <a:cs typeface="Times New Roman" panose="02020603050405020304" pitchFamily="18" charset="0"/>
              </a:rPr>
              <a:t>   - &lt;height&gt;: Chiều cao của bounding box.</a:t>
            </a:r>
          </a:p>
          <a:p>
            <a:pPr algn="just" defTabSz="914400" eaLnBrk="0" fontAlgn="base" hangingPunct="0">
              <a:spcBef>
                <a:spcPct val="0"/>
              </a:spcBef>
              <a:spcAft>
                <a:spcPct val="0"/>
              </a:spcAft>
            </a:pPr>
            <a:r>
              <a:rPr lang="en-US" altLang="en-US" sz="2000">
                <a:latin typeface="Times New Roman" panose="02020603050405020304" pitchFamily="18" charset="0"/>
                <a:ea typeface="Google Sans Text"/>
                <a:cs typeface="Times New Roman" panose="02020603050405020304" pitchFamily="18" charset="0"/>
              </a:rPr>
              <a:t>Chia tập dữ liệu: Tỉ lệ 7:2:1 (Train/Val/Test)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1059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092B95D-CA01-C83D-94C2-A8CCC679DF81}"/>
              </a:ext>
            </a:extLst>
          </p:cNvPr>
          <p:cNvSpPr>
            <a:spLocks noGrp="1"/>
          </p:cNvSpPr>
          <p:nvPr>
            <p:ph type="sldNum" sz="quarter" idx="12"/>
          </p:nvPr>
        </p:nvSpPr>
        <p:spPr/>
        <p:txBody>
          <a:bodyPr/>
          <a:lstStyle/>
          <a:p>
            <a:fld id="{9EA0BE3B-158A-4EDF-80DC-E394A0D1600F}" type="slidenum">
              <a:rPr lang="en-US" smtClean="0"/>
              <a:pPr/>
              <a:t>6</a:t>
            </a:fld>
            <a:endParaRPr lang="en-US" dirty="0"/>
          </a:p>
        </p:txBody>
      </p:sp>
      <p:sp>
        <p:nvSpPr>
          <p:cNvPr id="3" name="Title 2">
            <a:extLst>
              <a:ext uri="{FF2B5EF4-FFF2-40B4-BE49-F238E27FC236}">
                <a16:creationId xmlns:a16="http://schemas.microsoft.com/office/drawing/2014/main" id="{9E1E039C-6BFB-E612-3123-CAFE54096D51}"/>
              </a:ext>
            </a:extLst>
          </p:cNvPr>
          <p:cNvSpPr>
            <a:spLocks noGrp="1"/>
          </p:cNvSpPr>
          <p:nvPr>
            <p:ph type="title"/>
          </p:nvPr>
        </p:nvSpPr>
        <p:spPr/>
        <p:txBody>
          <a:bodyPr/>
          <a:lstStyle/>
          <a:p>
            <a:r>
              <a:rPr lang="vi-VN">
                <a:latin typeface="Times New Roman" panose="02020603050405020304" pitchFamily="18" charset="0"/>
                <a:cs typeface="Times New Roman" panose="02020603050405020304" pitchFamily="18" charset="0"/>
              </a:rPr>
              <a:t>3. Kiến trúc hệ thống</a:t>
            </a:r>
            <a:endParaRPr lang="en-US">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8DEE1AE2-25CB-8388-E08A-697BC1CEDB1C}"/>
              </a:ext>
            </a:extLst>
          </p:cNvPr>
          <p:cNvSpPr>
            <a:spLocks noGrp="1"/>
          </p:cNvSpPr>
          <p:nvPr>
            <p:ph type="body" sz="quarter" idx="13"/>
          </p:nvPr>
        </p:nvSpPr>
        <p:spPr/>
        <p:txBody>
          <a:bodyPr/>
          <a:lstStyle/>
          <a:p>
            <a:endParaRPr lang="en-US" sz="200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B7ADCEF-F32D-E5C9-C4F1-266FA16AA223}"/>
              </a:ext>
            </a:extLst>
          </p:cNvPr>
          <p:cNvPicPr>
            <a:picLocks noChangeAspect="1"/>
          </p:cNvPicPr>
          <p:nvPr/>
        </p:nvPicPr>
        <p:blipFill>
          <a:blip r:embed="rId2"/>
          <a:stretch>
            <a:fillRect/>
          </a:stretch>
        </p:blipFill>
        <p:spPr>
          <a:xfrm>
            <a:off x="336330" y="1105407"/>
            <a:ext cx="8471339" cy="4647186"/>
          </a:xfrm>
          <a:prstGeom prst="rect">
            <a:avLst/>
          </a:prstGeom>
        </p:spPr>
      </p:pic>
    </p:spTree>
    <p:extLst>
      <p:ext uri="{BB962C8B-B14F-4D97-AF65-F5344CB8AC3E}">
        <p14:creationId xmlns:p14="http://schemas.microsoft.com/office/powerpoint/2010/main" val="484383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27C63-D22E-0A5C-8DB2-2867F66EEAF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0FC730-0428-02A0-FADF-B2B6C0F314EE}"/>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3" name="Title 2">
            <a:extLst>
              <a:ext uri="{FF2B5EF4-FFF2-40B4-BE49-F238E27FC236}">
                <a16:creationId xmlns:a16="http://schemas.microsoft.com/office/drawing/2014/main" id="{E7388653-2537-A2AA-D9F2-73BBD5C95FCB}"/>
              </a:ext>
            </a:extLst>
          </p:cNvPr>
          <p:cNvSpPr>
            <a:spLocks noGrp="1"/>
          </p:cNvSpPr>
          <p:nvPr>
            <p:ph type="title"/>
          </p:nvPr>
        </p:nvSpPr>
        <p:spPr/>
        <p:txBody>
          <a:bodyPr/>
          <a:lstStyle/>
          <a:p>
            <a:r>
              <a:rPr lang="vi-VN">
                <a:latin typeface="Times New Roman" panose="02020603050405020304" pitchFamily="18" charset="0"/>
                <a:cs typeface="Times New Roman" panose="02020603050405020304" pitchFamily="18" charset="0"/>
              </a:rPr>
              <a:t>3. Kiến trúc hệ thống</a:t>
            </a:r>
            <a:endParaRPr lang="en-US">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46FAE5C2-054F-A8FA-AD9E-3D82F3372536}"/>
              </a:ext>
            </a:extLst>
          </p:cNvPr>
          <p:cNvSpPr>
            <a:spLocks noGrp="1" noChangeArrowheads="1"/>
          </p:cNvSpPr>
          <p:nvPr>
            <p:ph type="body" sz="quarter" idx="13"/>
          </p:nvPr>
        </p:nvSpPr>
        <p:spPr bwMode="auto">
          <a:xfrm>
            <a:off x="250937" y="941972"/>
            <a:ext cx="8673846" cy="87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a:ln>
                  <a:noFill/>
                </a:ln>
                <a:solidFill>
                  <a:schemeClr val="tx1"/>
                </a:solidFill>
                <a:effectLst/>
                <a:latin typeface="Arial" panose="020B0604020202020204" pitchFamily="34" charset="0"/>
                <a:ea typeface="Google Sans Text"/>
              </a:rPr>
              <a:t>YOLOv12 (Object Detection):</a:t>
            </a:r>
            <a:endParaRPr kumimoji="0" lang="vi-VN" altLang="en-US" sz="1800" b="1" i="0" u="none" strike="noStrike" cap="none" normalizeH="0" baseline="0">
              <a:ln>
                <a:noFill/>
              </a:ln>
              <a:solidFill>
                <a:schemeClr val="tx1"/>
              </a:solidFill>
              <a:effectLst/>
              <a:latin typeface="Arial" panose="020B0604020202020204" pitchFamily="34" charset="0"/>
              <a:ea typeface="Google Sans Text"/>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a:ln>
                <a:noFill/>
              </a:ln>
              <a:solidFill>
                <a:schemeClr val="tx1"/>
              </a:solidFill>
              <a:effectLst/>
              <a:latin typeface="Arial" panose="020B0604020202020204" pitchFamily="34" charset="0"/>
              <a:ea typeface="Google Sans Tex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a:ln>
                  <a:noFill/>
                </a:ln>
                <a:solidFill>
                  <a:schemeClr val="tx1"/>
                </a:solidFill>
                <a:effectLst/>
                <a:latin typeface="Arial" panose="020B0604020202020204" pitchFamily="34" charset="0"/>
                <a:ea typeface="Google Sans Text"/>
              </a:rPr>
              <a:t>Nhiệm vụ: Xác định vị trí (x, y, w, h) và phân loại sơ bộ.</a:t>
            </a:r>
          </a:p>
        </p:txBody>
      </p:sp>
      <p:sp>
        <p:nvSpPr>
          <p:cNvPr id="7" name="Rectangle 3">
            <a:extLst>
              <a:ext uri="{FF2B5EF4-FFF2-40B4-BE49-F238E27FC236}">
                <a16:creationId xmlns:a16="http://schemas.microsoft.com/office/drawing/2014/main" id="{27AF7FC4-1F25-B61D-C6B9-F9849D892C58}"/>
              </a:ext>
            </a:extLst>
          </p:cNvPr>
          <p:cNvSpPr>
            <a:spLocks noChangeArrowheads="1"/>
          </p:cNvSpPr>
          <p:nvPr/>
        </p:nvSpPr>
        <p:spPr bwMode="auto">
          <a:xfrm>
            <a:off x="235076" y="2034208"/>
            <a:ext cx="857325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lang="vi-VN" altLang="en-US" sz="2000">
                <a:latin typeface="Times New Roman" panose="02020603050405020304" pitchFamily="18" charset="0"/>
                <a:cs typeface="Times New Roman" panose="02020603050405020304" pitchFamily="18" charset="0"/>
              </a:rPr>
              <a:t>- </a:t>
            </a:r>
            <a:r>
              <a:rPr kumimoji="0" lang="en-US" altLang="en-US" sz="20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YOLOv8 (ra mắt đầu 2023) là một mô hình rất ổn định, nhưng giới hạn trong việc trích xuất các đặc trưng ngữ cảnh toàn cục (global context).</a:t>
            </a:r>
          </a:p>
          <a:p>
            <a:pPr marL="0" marR="0" lvl="0" indent="0" algn="just" defTabSz="914400" rtl="0" eaLnBrk="0" fontAlgn="base" latinLnBrk="0" hangingPunct="0">
              <a:lnSpc>
                <a:spcPct val="100000"/>
              </a:lnSpc>
              <a:spcBef>
                <a:spcPct val="0"/>
              </a:spcBef>
              <a:spcAft>
                <a:spcPct val="0"/>
              </a:spcAft>
              <a:buClrTx/>
              <a:buSzTx/>
              <a:tabLst/>
            </a:pPr>
            <a:r>
              <a:rPr lang="vi-VN" altLang="en-US" sz="2000">
                <a:latin typeface="Times New Roman" panose="02020603050405020304" pitchFamily="18" charset="0"/>
                <a:cs typeface="Times New Roman" panose="02020603050405020304" pitchFamily="18" charset="0"/>
              </a:rPr>
              <a:t>- </a:t>
            </a:r>
            <a:r>
              <a:rPr kumimoji="0" lang="en-US" altLang="en-US" sz="20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YOLOv10 (2024) tập trung vào việc loại bỏ NMS (Non-Maximum Suppression) để giảm độ trễ (latency). Tuy nhiên, việc đánh đổi này đôi khi làm giảm nhẹ độ chính xác (mAP) so với các kiến trúc tập trung vào Feature Extraction sâu hơn.</a:t>
            </a:r>
          </a:p>
          <a:p>
            <a:pPr marL="0" marR="0" lvl="0" indent="0" algn="just" defTabSz="914400" rtl="0" eaLnBrk="0" fontAlgn="base" latinLnBrk="0" hangingPunct="0">
              <a:lnSpc>
                <a:spcPct val="100000"/>
              </a:lnSpc>
              <a:spcBef>
                <a:spcPct val="0"/>
              </a:spcBef>
              <a:spcAft>
                <a:spcPct val="0"/>
              </a:spcAft>
              <a:buClrTx/>
              <a:buSzTx/>
              <a:tabLst/>
            </a:pPr>
            <a:r>
              <a:rPr kumimoji="0" lang="vi-VN" altLang="en-US" sz="20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sym typeface="Wingdings" panose="05000000000000000000" pitchFamily="2" charset="2"/>
              </a:rPr>
              <a:t> </a:t>
            </a:r>
            <a:r>
              <a:rPr kumimoji="0" lang="en-US" altLang="en-US" sz="20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YOLOv12: Mang lại sự cân bằng tốt nhất: Tốc độ của v10 + Độ chính xác vượt trội hơn v8.</a:t>
            </a:r>
          </a:p>
        </p:txBody>
      </p:sp>
    </p:spTree>
    <p:extLst>
      <p:ext uri="{BB962C8B-B14F-4D97-AF65-F5344CB8AC3E}">
        <p14:creationId xmlns:p14="http://schemas.microsoft.com/office/powerpoint/2010/main" val="20594360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2B7ED-5C20-BBF4-7AD9-73330D5C030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C40793-C439-29C9-8859-E1518C87EC5F}"/>
              </a:ext>
            </a:extLst>
          </p:cNvPr>
          <p:cNvSpPr>
            <a:spLocks noGrp="1"/>
          </p:cNvSpPr>
          <p:nvPr>
            <p:ph type="sldNum" sz="quarter" idx="12"/>
          </p:nvPr>
        </p:nvSpPr>
        <p:spPr/>
        <p:txBody>
          <a:bodyPr/>
          <a:lstStyle/>
          <a:p>
            <a:fld id="{9EA0BE3B-158A-4EDF-80DC-E394A0D1600F}" type="slidenum">
              <a:rPr lang="en-US" smtClean="0"/>
              <a:pPr/>
              <a:t>8</a:t>
            </a:fld>
            <a:endParaRPr lang="en-US" dirty="0"/>
          </a:p>
        </p:txBody>
      </p:sp>
      <p:sp>
        <p:nvSpPr>
          <p:cNvPr id="3" name="Title 2">
            <a:extLst>
              <a:ext uri="{FF2B5EF4-FFF2-40B4-BE49-F238E27FC236}">
                <a16:creationId xmlns:a16="http://schemas.microsoft.com/office/drawing/2014/main" id="{6374847E-0C5C-8C3F-624C-7539CFE13A3E}"/>
              </a:ext>
            </a:extLst>
          </p:cNvPr>
          <p:cNvSpPr>
            <a:spLocks noGrp="1"/>
          </p:cNvSpPr>
          <p:nvPr>
            <p:ph type="title"/>
          </p:nvPr>
        </p:nvSpPr>
        <p:spPr/>
        <p:txBody>
          <a:bodyPr/>
          <a:lstStyle/>
          <a:p>
            <a:r>
              <a:rPr lang="vi-VN">
                <a:latin typeface="Times New Roman" panose="02020603050405020304" pitchFamily="18" charset="0"/>
                <a:cs typeface="Times New Roman" panose="02020603050405020304" pitchFamily="18" charset="0"/>
              </a:rPr>
              <a:t>3. Kiến trúc hệ thống</a:t>
            </a:r>
            <a:endParaRPr lang="en-US">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DB4B2FBE-F0DD-91B4-4C1C-AA574E541E83}"/>
              </a:ext>
            </a:extLst>
          </p:cNvPr>
          <p:cNvSpPr>
            <a:spLocks noGrp="1" noChangeArrowheads="1"/>
          </p:cNvSpPr>
          <p:nvPr>
            <p:ph type="body" sz="quarter" idx="13"/>
          </p:nvPr>
        </p:nvSpPr>
        <p:spPr bwMode="auto">
          <a:xfrm>
            <a:off x="235076" y="2497976"/>
            <a:ext cx="8673847"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VLM (Semantic Classification):</a:t>
            </a:r>
            <a:endParaRPr kumimoji="0" lang="vi-VN" altLang="en-US" sz="20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vi-VN" altLang="en-US" sz="200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00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Nhiệm vụ: Xác thực lại nhãn (Verify) hoặc giải thích biển báo trong trường hợp độ tin cậy của YOLO thấp (Confidence score &lt; ngưỡng).</a:t>
            </a:r>
          </a:p>
          <a:p>
            <a:pPr marL="0" marR="0" lvl="0" indent="0" algn="just" defTabSz="914400" rtl="0" eaLnBrk="0" fontAlgn="base" latinLnBrk="0" hangingPunct="0">
              <a:lnSpc>
                <a:spcPct val="100000"/>
              </a:lnSpc>
              <a:spcBef>
                <a:spcPct val="0"/>
              </a:spcBef>
              <a:spcAft>
                <a:spcPct val="0"/>
              </a:spcAft>
              <a:buClrTx/>
              <a:buSzTx/>
              <a:buNone/>
              <a:tabLst/>
            </a:pPr>
            <a:r>
              <a:rPr kumimoji="0" lang="vi-VN" altLang="en-US" sz="200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00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Cách hoạt động: Đưa ảnh crop của biển báo + Prompt vào mô hình.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87324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26125-168B-F5F3-E4E3-0AD2F949752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C9F3E8-4C45-2B41-4252-60CADFDD3923}"/>
              </a:ext>
            </a:extLst>
          </p:cNvPr>
          <p:cNvSpPr>
            <a:spLocks noGrp="1"/>
          </p:cNvSpPr>
          <p:nvPr>
            <p:ph type="sldNum" sz="quarter" idx="12"/>
          </p:nvPr>
        </p:nvSpPr>
        <p:spPr/>
        <p:txBody>
          <a:bodyPr/>
          <a:lstStyle/>
          <a:p>
            <a:fld id="{9EA0BE3B-158A-4EDF-80DC-E394A0D1600F}" type="slidenum">
              <a:rPr lang="en-US" smtClean="0"/>
              <a:pPr/>
              <a:t>9</a:t>
            </a:fld>
            <a:endParaRPr lang="en-US" dirty="0"/>
          </a:p>
        </p:txBody>
      </p:sp>
      <p:sp>
        <p:nvSpPr>
          <p:cNvPr id="3" name="Title 2">
            <a:extLst>
              <a:ext uri="{FF2B5EF4-FFF2-40B4-BE49-F238E27FC236}">
                <a16:creationId xmlns:a16="http://schemas.microsoft.com/office/drawing/2014/main" id="{87F13FB2-7CBB-1FF9-C233-5FFD9254D2AC}"/>
              </a:ext>
            </a:extLst>
          </p:cNvPr>
          <p:cNvSpPr>
            <a:spLocks noGrp="1"/>
          </p:cNvSpPr>
          <p:nvPr>
            <p:ph type="title"/>
          </p:nvPr>
        </p:nvSpPr>
        <p:spPr/>
        <p:txBody>
          <a:bodyPr/>
          <a:lstStyle/>
          <a:p>
            <a:r>
              <a:rPr lang="vi-VN">
                <a:latin typeface="Times New Roman" panose="02020603050405020304" pitchFamily="18" charset="0"/>
                <a:cs typeface="Times New Roman" panose="02020603050405020304" pitchFamily="18" charset="0"/>
              </a:rPr>
              <a:t>3. Kiến trúc hệ thống</a:t>
            </a:r>
            <a:endParaRPr lang="en-US">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06850224-F87E-AB3A-82AC-4891DA7F3859}"/>
              </a:ext>
            </a:extLst>
          </p:cNvPr>
          <p:cNvSpPr>
            <a:spLocks noGrp="1" noChangeArrowheads="1"/>
          </p:cNvSpPr>
          <p:nvPr>
            <p:ph type="body" sz="quarter" idx="13"/>
          </p:nvPr>
        </p:nvSpPr>
        <p:spPr bwMode="auto">
          <a:xfrm>
            <a:off x="279520" y="2482587"/>
            <a:ext cx="8584959" cy="18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Chiến lược tối ưu thời gian thực (Real-time Strategy):</a:t>
            </a:r>
            <a:endParaRPr kumimoji="0" lang="en-US" altLang="en-US" sz="2000" b="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vi-VN" altLang="en-US" sz="200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00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Sử dụng Multi-threading: Một luồng đọc webcam, một luồng chạy YOLO, một luồng hiển thị (để tránh hiện tượng bottleneck I/O).</a:t>
            </a:r>
          </a:p>
          <a:p>
            <a:pPr marL="0" marR="0" lvl="0" indent="0" algn="just" defTabSz="914400" rtl="0" eaLnBrk="0" fontAlgn="base" latinLnBrk="0" hangingPunct="0">
              <a:lnSpc>
                <a:spcPct val="100000"/>
              </a:lnSpc>
              <a:spcBef>
                <a:spcPct val="0"/>
              </a:spcBef>
              <a:spcAft>
                <a:spcPct val="0"/>
              </a:spcAft>
              <a:buClrTx/>
              <a:buSzTx/>
              <a:buNone/>
              <a:tabLst/>
            </a:pPr>
            <a:r>
              <a:rPr lang="vi-VN" altLang="en-US" sz="2000" i="1">
                <a:latin typeface="Times New Roman" panose="02020603050405020304" pitchFamily="18" charset="0"/>
                <a:ea typeface="Google Sans Text"/>
                <a:cs typeface="Times New Roman" panose="02020603050405020304" pitchFamily="18" charset="0"/>
              </a:rPr>
              <a:t>- </a:t>
            </a:r>
            <a:r>
              <a:rPr lang="vi-VN" altLang="en-US" sz="2000">
                <a:latin typeface="Times New Roman" panose="02020603050405020304" pitchFamily="18" charset="0"/>
                <a:ea typeface="Google Sans Text"/>
                <a:cs typeface="Times New Roman" panose="02020603050405020304" pitchFamily="18" charset="0"/>
              </a:rPr>
              <a:t>Logic:</a:t>
            </a:r>
            <a:r>
              <a:rPr kumimoji="0" lang="en-US" altLang="en-US" sz="200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 </a:t>
            </a:r>
            <a:r>
              <a:rPr kumimoji="0" lang="en-US" altLang="en-US" sz="2000" i="0" u="none" strike="noStrike" cap="none" normalizeH="0" baseline="0">
                <a:ln>
                  <a:noFill/>
                </a:ln>
                <a:solidFill>
                  <a:schemeClr val="tx1"/>
                </a:solidFill>
                <a:effectLst/>
                <a:latin typeface="Times New Roman" panose="02020603050405020304" pitchFamily="18" charset="0"/>
                <a:ea typeface="Google Sans Text"/>
                <a:cs typeface="Times New Roman" panose="02020603050405020304" pitchFamily="18" charset="0"/>
              </a:rPr>
              <a:t>Không chạy VLM cho tất cả các frame. Chỉ chạy VLM khi phát hiện biển báo mới hoặc biển báo không rõ ràng (giúp giữ FPS cao).</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6301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p:txBody>
          <a:bodyPr/>
          <a:lstStyle/>
          <a:p>
            <a:r>
              <a:rPr lang="vi-VN">
                <a:latin typeface="Times New Roman" panose="02020603050405020304" pitchFamily="18" charset="0"/>
                <a:cs typeface="Times New Roman" panose="02020603050405020304" pitchFamily="18" charset="0"/>
              </a:rPr>
              <a:t>4.</a:t>
            </a:r>
            <a:r>
              <a:rPr lang="en-US"/>
              <a:t> Thực nghiệm &amp; Đánh giá</a:t>
            </a:r>
            <a:endParaRPr lang="en-US">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BC311219-8684-45FC-A126-E067924AC7F7}"/>
              </a:ext>
            </a:extLst>
          </p:cNvPr>
          <p:cNvSpPr>
            <a:spLocks noGrp="1"/>
          </p:cNvSpPr>
          <p:nvPr>
            <p:ph type="body" sz="quarter" idx="13"/>
          </p:nvPr>
        </p:nvSpPr>
        <p:spPr/>
        <p:txBody>
          <a:bodyPr/>
          <a:lstStyle/>
          <a:p>
            <a:pPr marL="0" indent="0" algn="just">
              <a:buNone/>
            </a:pPr>
            <a:r>
              <a:rPr lang="en-US" sz="2000"/>
              <a:t>Cấu hình huấn luyện (Training Setup)</a:t>
            </a:r>
            <a:r>
              <a:rPr lang="vi-VN" sz="2000"/>
              <a:t>:</a:t>
            </a:r>
          </a:p>
          <a:p>
            <a:pPr marL="0" indent="0" algn="just">
              <a:buNone/>
            </a:pPr>
            <a:r>
              <a:rPr lang="vi-VN" sz="2000"/>
              <a:t>- </a:t>
            </a:r>
          </a:p>
          <a:p>
            <a:pPr algn="just">
              <a:buFontTx/>
              <a:buChar char="-"/>
            </a:pPr>
            <a:endParaRPr lang="en-US"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1358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19312-8F4C-4E78-D870-A6D739561FB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865638-0E55-2883-C8CA-82CE420EA970}"/>
              </a:ext>
            </a:extLst>
          </p:cNvPr>
          <p:cNvSpPr>
            <a:spLocks noGrp="1"/>
          </p:cNvSpPr>
          <p:nvPr>
            <p:ph type="sldNum" sz="quarter" idx="12"/>
          </p:nvPr>
        </p:nvSpPr>
        <p:spPr/>
        <p:txBody>
          <a:bodyPr/>
          <a:lstStyle/>
          <a:p>
            <a:fld id="{9EA0BE3B-158A-4EDF-80DC-E394A0D1600F}" type="slidenum">
              <a:rPr lang="en-US" smtClean="0"/>
              <a:pPr/>
              <a:t>11</a:t>
            </a:fld>
            <a:endParaRPr lang="en-US" dirty="0"/>
          </a:p>
        </p:txBody>
      </p:sp>
      <p:sp>
        <p:nvSpPr>
          <p:cNvPr id="3" name="Title 2">
            <a:extLst>
              <a:ext uri="{FF2B5EF4-FFF2-40B4-BE49-F238E27FC236}">
                <a16:creationId xmlns:a16="http://schemas.microsoft.com/office/drawing/2014/main" id="{511453CA-C41D-69E2-3B43-61EB05710B2B}"/>
              </a:ext>
            </a:extLst>
          </p:cNvPr>
          <p:cNvSpPr>
            <a:spLocks noGrp="1"/>
          </p:cNvSpPr>
          <p:nvPr>
            <p:ph type="title"/>
          </p:nvPr>
        </p:nvSpPr>
        <p:spPr/>
        <p:txBody>
          <a:bodyPr/>
          <a:lstStyle/>
          <a:p>
            <a:r>
              <a:rPr lang="vi-VN">
                <a:latin typeface="Times New Roman" panose="02020603050405020304" pitchFamily="18" charset="0"/>
                <a:cs typeface="Times New Roman" panose="02020603050405020304" pitchFamily="18" charset="0"/>
              </a:rPr>
              <a:t>4.</a:t>
            </a:r>
            <a:r>
              <a:rPr lang="en-US"/>
              <a:t> Thực nghiệm &amp; Đánh giá</a:t>
            </a:r>
            <a:endParaRPr lang="en-US">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C6D917A2-DCFF-1E48-4526-72CD6379B388}"/>
              </a:ext>
            </a:extLst>
          </p:cNvPr>
          <p:cNvSpPr>
            <a:spLocks noGrp="1"/>
          </p:cNvSpPr>
          <p:nvPr>
            <p:ph type="body" sz="quarter" idx="13"/>
          </p:nvPr>
        </p:nvSpPr>
        <p:spPr/>
        <p:txBody>
          <a:bodyPr/>
          <a:lstStyle/>
          <a:p>
            <a:pPr marL="0" indent="0" algn="just">
              <a:buNone/>
            </a:pPr>
            <a:r>
              <a:rPr lang="en-US" sz="2000"/>
              <a:t>Các chỉ số đánh giá (</a:t>
            </a:r>
            <a:r>
              <a:rPr lang="vi-VN" sz="2000"/>
              <a:t>Metrics):</a:t>
            </a:r>
          </a:p>
          <a:p>
            <a:pPr marL="0" indent="0" algn="just">
              <a:buNone/>
            </a:pPr>
            <a:r>
              <a:rPr lang="vi-VN" sz="2000"/>
              <a:t>-  </a:t>
            </a:r>
          </a:p>
          <a:p>
            <a:pPr algn="just">
              <a:buFontTx/>
              <a:buChar char="-"/>
            </a:pPr>
            <a:endParaRPr lang="en-US"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3600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FEF23-89A7-01C6-55F2-429ECE88772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01BD1B-8D01-950E-4997-6BA3D24365BC}"/>
              </a:ext>
            </a:extLst>
          </p:cNvPr>
          <p:cNvSpPr>
            <a:spLocks noGrp="1"/>
          </p:cNvSpPr>
          <p:nvPr>
            <p:ph type="sldNum" sz="quarter" idx="12"/>
          </p:nvPr>
        </p:nvSpPr>
        <p:spPr/>
        <p:txBody>
          <a:bodyPr/>
          <a:lstStyle/>
          <a:p>
            <a:fld id="{9EA0BE3B-158A-4EDF-80DC-E394A0D1600F}" type="slidenum">
              <a:rPr lang="en-US" smtClean="0"/>
              <a:pPr/>
              <a:t>12</a:t>
            </a:fld>
            <a:endParaRPr lang="en-US" dirty="0"/>
          </a:p>
        </p:txBody>
      </p:sp>
      <p:sp>
        <p:nvSpPr>
          <p:cNvPr id="3" name="Title 2">
            <a:extLst>
              <a:ext uri="{FF2B5EF4-FFF2-40B4-BE49-F238E27FC236}">
                <a16:creationId xmlns:a16="http://schemas.microsoft.com/office/drawing/2014/main" id="{538B6399-8795-7C1E-5294-DEDEF1095054}"/>
              </a:ext>
            </a:extLst>
          </p:cNvPr>
          <p:cNvSpPr>
            <a:spLocks noGrp="1"/>
          </p:cNvSpPr>
          <p:nvPr>
            <p:ph type="title"/>
          </p:nvPr>
        </p:nvSpPr>
        <p:spPr/>
        <p:txBody>
          <a:bodyPr/>
          <a:lstStyle/>
          <a:p>
            <a:r>
              <a:rPr lang="vi-VN">
                <a:latin typeface="Times New Roman" panose="02020603050405020304" pitchFamily="18" charset="0"/>
                <a:cs typeface="Times New Roman" panose="02020603050405020304" pitchFamily="18" charset="0"/>
              </a:rPr>
              <a:t>5.</a:t>
            </a:r>
            <a:r>
              <a:rPr lang="en-US"/>
              <a:t> Demo</a:t>
            </a:r>
            <a:endParaRPr lang="en-US">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BEECB915-0570-4D1D-03B5-9B2824C29E77}"/>
              </a:ext>
            </a:extLst>
          </p:cNvPr>
          <p:cNvSpPr>
            <a:spLocks noGrp="1"/>
          </p:cNvSpPr>
          <p:nvPr>
            <p:ph type="body" sz="quarter" idx="13"/>
          </p:nvPr>
        </p:nvSpPr>
        <p:spPr/>
        <p:txBody>
          <a:bodyPr/>
          <a:lstStyle/>
          <a:p>
            <a:pPr marL="0" indent="0" algn="just">
              <a:buNone/>
            </a:pPr>
            <a:endParaRPr lang="vi-VN" sz="2000"/>
          </a:p>
          <a:p>
            <a:pPr algn="just">
              <a:buFontTx/>
              <a:buChar char="-"/>
            </a:pPr>
            <a:endParaRPr lang="en-US"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8539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748A4-43C3-7C17-974B-4EA66965BE6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9F8600-41E2-CEE6-6AA0-F239B3A62E76}"/>
              </a:ext>
            </a:extLst>
          </p:cNvPr>
          <p:cNvSpPr>
            <a:spLocks noGrp="1"/>
          </p:cNvSpPr>
          <p:nvPr>
            <p:ph type="sldNum" sz="quarter" idx="12"/>
          </p:nvPr>
        </p:nvSpPr>
        <p:spPr/>
        <p:txBody>
          <a:bodyPr/>
          <a:lstStyle/>
          <a:p>
            <a:fld id="{9EA0BE3B-158A-4EDF-80DC-E394A0D1600F}" type="slidenum">
              <a:rPr lang="en-US" smtClean="0"/>
              <a:pPr/>
              <a:t>13</a:t>
            </a:fld>
            <a:endParaRPr lang="en-US" dirty="0"/>
          </a:p>
        </p:txBody>
      </p:sp>
      <p:sp>
        <p:nvSpPr>
          <p:cNvPr id="3" name="Title 2">
            <a:extLst>
              <a:ext uri="{FF2B5EF4-FFF2-40B4-BE49-F238E27FC236}">
                <a16:creationId xmlns:a16="http://schemas.microsoft.com/office/drawing/2014/main" id="{6F0F0D96-90A7-9DDB-18CE-B7AE29C853DA}"/>
              </a:ext>
            </a:extLst>
          </p:cNvPr>
          <p:cNvSpPr>
            <a:spLocks noGrp="1"/>
          </p:cNvSpPr>
          <p:nvPr>
            <p:ph type="title"/>
          </p:nvPr>
        </p:nvSpPr>
        <p:spPr/>
        <p:txBody>
          <a:bodyPr/>
          <a:lstStyle/>
          <a:p>
            <a:r>
              <a:rPr lang="vi-VN">
                <a:latin typeface="Times New Roman" panose="02020603050405020304" pitchFamily="18" charset="0"/>
                <a:cs typeface="Times New Roman" panose="02020603050405020304" pitchFamily="18" charset="0"/>
              </a:rPr>
              <a:t>6.</a:t>
            </a:r>
            <a:r>
              <a:rPr lang="vi-VN"/>
              <a:t> Kết luận &amp; Hướng phát triển</a:t>
            </a:r>
            <a:endParaRPr lang="en-US">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88FB2BBE-85E8-3B51-FF21-822845E69FF1}"/>
              </a:ext>
            </a:extLst>
          </p:cNvPr>
          <p:cNvSpPr>
            <a:spLocks noGrp="1" noChangeArrowheads="1"/>
          </p:cNvSpPr>
          <p:nvPr>
            <p:ph type="body" sz="quarter" idx="13"/>
          </p:nvPr>
        </p:nvSpPr>
        <p:spPr bwMode="auto">
          <a:xfrm>
            <a:off x="235077" y="2098424"/>
            <a:ext cx="839076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Tổng kết:</a:t>
            </a: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Đã xây dựng thành công hệ thống nhận diện biển báo real-time trên dữ liệu Việt Nam với kiến trúc YOLOv12 + VLM.</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Hạn chế:</a:t>
            </a:r>
            <a:endPar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vi-VN"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VLM còn tốn tài nguyên nếu chạy liên tục.</a:t>
            </a:r>
          </a:p>
          <a:p>
            <a:pPr marL="0" marR="0" lvl="0" indent="0" algn="just" defTabSz="914400" rtl="0" eaLnBrk="0" fontAlgn="base" latinLnBrk="0" hangingPunct="0">
              <a:lnSpc>
                <a:spcPct val="100000"/>
              </a:lnSpc>
              <a:spcBef>
                <a:spcPct val="0"/>
              </a:spcBef>
              <a:spcAft>
                <a:spcPct val="0"/>
              </a:spcAft>
              <a:buClrTx/>
              <a:buSzTx/>
              <a:buNone/>
              <a:tabLst/>
            </a:pPr>
            <a:r>
              <a:rPr kumimoji="0" lang="vi-VN"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Dữ liệu ban đêm chưa nhiều.</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Hướng phát triển:</a:t>
            </a:r>
            <a:endPar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vi-VN"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a:t>
            </a: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ở rộng bài toán: Nhận diện và cảnh báo bằng giọng nói (Text-to-Speech) cho tài xế.</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5697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14</a:t>
            </a:fld>
            <a:endParaRPr lang="en-US" dirty="0"/>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a:t>THANK YOU !</a:t>
            </a:r>
            <a:endParaRPr lang="en-US" sz="4800" dirty="0"/>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234</TotalTime>
  <Words>855</Words>
  <Application>Microsoft Office PowerPoint</Application>
  <PresentationFormat>On-screen Show (4:3)</PresentationFormat>
  <Paragraphs>78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Lato</vt:lpstr>
      <vt:lpstr>Times New Roman</vt:lpstr>
      <vt:lpstr>Office Theme</vt:lpstr>
      <vt:lpstr>PowerPoint Presentation</vt:lpstr>
      <vt:lpstr>1. Mở đầu</vt:lpstr>
      <vt:lpstr>2. Xử lý Dữ liệu</vt:lpstr>
      <vt:lpstr>2. Xử lý Dữ liệu</vt:lpstr>
      <vt:lpstr>2. Xử lý Dữ liệu</vt:lpstr>
      <vt:lpstr>3. Kiến trúc hệ thống</vt:lpstr>
      <vt:lpstr>3. Kiến trúc hệ thống</vt:lpstr>
      <vt:lpstr>3. Kiến trúc hệ thống</vt:lpstr>
      <vt:lpstr>3. Kiến trúc hệ thống</vt:lpstr>
      <vt:lpstr>4. Thực nghiệm &amp; Đánh giá</vt:lpstr>
      <vt:lpstr>4. Thực nghiệm &amp; Đánh giá</vt:lpstr>
      <vt:lpstr>5. Demo</vt:lpstr>
      <vt:lpstr>6. Kết luận &amp; Hướng phát triển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Nguyen Thuy Linh 20225031</cp:lastModifiedBy>
  <cp:revision>18</cp:revision>
  <dcterms:created xsi:type="dcterms:W3CDTF">2021-05-28T04:32:29Z</dcterms:created>
  <dcterms:modified xsi:type="dcterms:W3CDTF">2025-11-26T04:39:35Z</dcterms:modified>
</cp:coreProperties>
</file>